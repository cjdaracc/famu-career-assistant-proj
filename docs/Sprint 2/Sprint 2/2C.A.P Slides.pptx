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Fjalla One"/>
      <p:regular r:id="rId11"/>
    </p:embeddedFont>
    <p:embeddedFont>
      <p:font typeface="Barlow Semi Condensed Medium"/>
      <p:regular r:id="rId12"/>
      <p:bold r:id="rId13"/>
      <p:italic r:id="rId14"/>
      <p:boldItalic r:id="rId15"/>
    </p:embeddedFont>
    <p:embeddedFont>
      <p:font typeface="Barlow Semi Condensed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8oiCexxqCqgY2z8BJZLgnpUa5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FjallaOne-regular.fntdata"/><Relationship Id="rId10" Type="http://schemas.openxmlformats.org/officeDocument/2006/relationships/slide" Target="slides/slide6.xml"/><Relationship Id="rId13" Type="http://schemas.openxmlformats.org/officeDocument/2006/relationships/font" Target="fonts/BarlowSemiCondensedMedium-bold.fntdata"/><Relationship Id="rId12" Type="http://schemas.openxmlformats.org/officeDocument/2006/relationships/font" Target="fonts/BarlowSemiCondensedMedium-regular.fntdata"/><Relationship Id="rId15" Type="http://schemas.openxmlformats.org/officeDocument/2006/relationships/font" Target="fonts/BarlowSemiCondensedMedium-boldItalic.fntdata"/><Relationship Id="rId14" Type="http://schemas.openxmlformats.org/officeDocument/2006/relationships/font" Target="fonts/BarlowSemiCondensedMedium-italic.fntdata"/><Relationship Id="rId17" Type="http://schemas.openxmlformats.org/officeDocument/2006/relationships/font" Target="fonts/BarlowSemiCondensed-bold.fntdata"/><Relationship Id="rId16" Type="http://schemas.openxmlformats.org/officeDocument/2006/relationships/font" Target="fonts/BarlowSemiCondensed-regular.fntdata"/><Relationship Id="rId19" Type="http://schemas.openxmlformats.org/officeDocument/2006/relationships/font" Target="fonts/BarlowSemiCondensed-boldItalic.fntdata"/><Relationship Id="rId18" Type="http://schemas.openxmlformats.org/officeDocument/2006/relationships/font" Target="fonts/BarlowSemiCondense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4" name="Google Shape;16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4" name="Google Shape;18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2" name="Google Shape;2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💻 </a:t>
            </a:r>
            <a:r>
              <a:rPr b="1" lang="en">
                <a:solidFill>
                  <a:schemeClr val="dk1"/>
                </a:solidFill>
              </a:rPr>
              <a:t>React (Frontend):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Handles user interface and interaction in the browser.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Communicates with the backend via HTTP requests (e.g., fetch/axios).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⚙️ </a:t>
            </a:r>
            <a:r>
              <a:rPr b="1" lang="en">
                <a:solidFill>
                  <a:schemeClr val="dk1"/>
                </a:solidFill>
              </a:rPr>
              <a:t>Express + Node.js (Backend):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Manages routes, APIs, and business logic.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Runs on a Node.js server to process data and send responses.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🗂️ </a:t>
            </a:r>
            <a:r>
              <a:rPr b="1" lang="en">
                <a:solidFill>
                  <a:schemeClr val="dk1"/>
                </a:solidFill>
              </a:rPr>
              <a:t>MongoDB (Database):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Stores all persistent data: user profiles, jobs, resumes, applications.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Interacts directly with the backend using Mongoose (or native driver).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🔁 </a:t>
            </a:r>
            <a:r>
              <a:rPr b="1" lang="en">
                <a:solidFill>
                  <a:schemeClr val="dk1"/>
                </a:solidFill>
              </a:rPr>
              <a:t>Flow: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User → React → Express/Node → MongoDB → Back to User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g38c4b241a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8" name="Google Shape;2138;g38c4b241a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💻 </a:t>
            </a:r>
            <a:r>
              <a:rPr b="1" lang="en">
                <a:solidFill>
                  <a:schemeClr val="dk1"/>
                </a:solidFill>
              </a:rPr>
              <a:t>React (Frontend):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Handles user interface and interaction in the browser.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Communicates with the backend via HTTP requests (e.g., fetch/axios).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⚙️ </a:t>
            </a:r>
            <a:r>
              <a:rPr b="1" lang="en">
                <a:solidFill>
                  <a:schemeClr val="dk1"/>
                </a:solidFill>
              </a:rPr>
              <a:t>Express + Node.js (Backend):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Manages routes, APIs, and business logic.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Connects with both </a:t>
            </a:r>
            <a:r>
              <a:rPr b="1" lang="en">
                <a:solidFill>
                  <a:schemeClr val="dk1"/>
                </a:solidFill>
              </a:rPr>
              <a:t>MongoDB</a:t>
            </a:r>
            <a:r>
              <a:rPr lang="en">
                <a:solidFill>
                  <a:schemeClr val="dk1"/>
                </a:solidFill>
              </a:rPr>
              <a:t> for data operations and the </a:t>
            </a:r>
            <a:r>
              <a:rPr b="1" lang="en">
                <a:solidFill>
                  <a:schemeClr val="dk1"/>
                </a:solidFill>
              </a:rPr>
              <a:t>Gemini API</a:t>
            </a:r>
            <a:r>
              <a:rPr lang="en">
                <a:solidFill>
                  <a:schemeClr val="dk1"/>
                </a:solidFill>
              </a:rPr>
              <a:t> for AI-powered insights.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🗂️ </a:t>
            </a:r>
            <a:r>
              <a:rPr b="1" lang="en">
                <a:solidFill>
                  <a:schemeClr val="dk1"/>
                </a:solidFill>
              </a:rPr>
              <a:t>MongoDB (Database):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Stores all persistent data: user profiles, jobs, resumes, applications.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Interacts directly with the backend using Mongoose (or native driver).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Gemini API (AI Integration):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Provides intelligent suggestions, summaries, or recommendations based on user data.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backend sends requests to Gemini, processes the output, and returns results to the UI.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🔁 </a:t>
            </a:r>
            <a:r>
              <a:rPr b="1" lang="en">
                <a:solidFill>
                  <a:schemeClr val="dk1"/>
                </a:solidFill>
              </a:rPr>
              <a:t>Flow: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User → React → Express/Node → MongoDB &amp; Gemini API → Back to User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4" name="Google Shape;2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0" name="Google Shape;21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50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50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50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50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50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" name="Google Shape;13;p50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5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5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5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5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50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5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50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0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0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0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0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0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50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35;p5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39;p50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5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2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52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6" name="Google Shape;46;p52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7" name="Google Shape;47;p52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8" name="Google Shape;48;p52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9" name="Google Shape;49;p52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50" name="Google Shape;50;p52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1" name="Google Shape;51;p52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52" name="Google Shape;52;p52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3" name="Google Shape;53;p52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52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52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52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9" name="Google Shape;59;p5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60" name="Google Shape;60;p5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5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5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5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64" name="Google Shape;64;p5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65" name="Google Shape;65;p5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6" name="Google Shape;66;p5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67" name="Google Shape;67;p5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5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5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5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5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5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5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74" name="Google Shape;74;p5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5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5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5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5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79" name="Google Shape;79;p5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5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5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5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3" name="Google Shape;83;p5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4" name="Google Shape;84;p5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85" name="Google Shape;85;p5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5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5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5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5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5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5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92" name="Google Shape;92;p5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5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5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5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" name="Google Shape;96;p5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97" name="Google Shape;97;p5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5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5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5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" name="Google Shape;101;p5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02" name="Google Shape;102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" name="Google Shape;105;p5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06" name="Google Shape;106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" name="Google Shape;109;p5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10" name="Google Shape;110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" name="Google Shape;113;p5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14" name="Google Shape;114;p5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5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5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7" name="Google Shape;117;p5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5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" name="Google Shape;119;p5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7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5" name="Google Shape;125;p57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26" name="Google Shape;126;p57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7" name="Google Shape;127;p57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28" name="Google Shape;128;p5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5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5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5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5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5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" name="Google Shape;134;p57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35" name="Google Shape;135;p5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5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5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5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" name="Google Shape;139;p57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0" name="Google Shape;140;p5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5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5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5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4" name="Google Shape;144;p57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5" name="Google Shape;145;p57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6" name="Google Shape;146;p5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5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5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5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5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5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57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53" name="Google Shape;153;p5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5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5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5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" name="Google Shape;157;p57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58" name="Google Shape;158;p57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57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57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57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" name="Google Shape;162;p57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3" name="Google Shape;163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" name="Google Shape;166;p57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7" name="Google Shape;167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57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71" name="Google Shape;171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" name="Google Shape;174;p57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75" name="Google Shape;175;p5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5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5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8" name="Google Shape;178;p57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57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0" name="Google Shape;180;p57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57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57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57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3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9pPr>
          </a:lstStyle>
          <a:p/>
        </p:txBody>
      </p:sp>
      <p:sp>
        <p:nvSpPr>
          <p:cNvPr id="186" name="Google Shape;186;p73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87" name="Google Shape;187;p73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b="0" i="0" lang="en" sz="1100" u="none" cap="none" strike="noStrike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b="0" i="0" sz="1400" u="none" cap="none" strike="noStrike"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88" name="Google Shape;188;p73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73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73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73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2" name="Google Shape;192;p73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93" name="Google Shape;193;p7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9" name="Google Shape;199;p73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200" name="Google Shape;200;p7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73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205" name="Google Shape;205;p7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73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210" name="Google Shape;210;p7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73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217" name="Google Shape;217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0" name="Google Shape;220;p73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73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73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3" name="Google Shape;223;p73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224" name="Google Shape;224;p7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7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7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7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7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73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231" name="Google Shape;231;p7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7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7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73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236" name="Google Shape;236;p7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7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7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73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3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3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3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3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3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73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247" name="Google Shape;247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73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251" name="Google Shape;251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73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255" name="Google Shape;255;p7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7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7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1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0" name="Google Shape;260;p51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261" name="Google Shape;261;p51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51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3" name="Google Shape;263;p51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264" name="Google Shape;264;p5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5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5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5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51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269" name="Google Shape;269;p5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5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5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5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5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5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75" name="Google Shape;275;p51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51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7" name="Google Shape;277;p51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278" name="Google Shape;278;p5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5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5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5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5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5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51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285" name="Google Shape;285;p5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5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5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5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51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290" name="Google Shape;290;p5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5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5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5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51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295" name="Google Shape;295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51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299" name="Google Shape;299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5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304" name="Google Shape;304;p5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5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" name="Google Shape;306;p5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7" name="Google Shape;307;p53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08" name="Google Shape;308;p5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309" name="Google Shape;309;p5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310" name="Google Shape;310;p5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11" name="Google Shape;311;p5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312" name="Google Shape;312;p5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5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5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5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5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5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" name="Google Shape;318;p5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319" name="Google Shape;319;p5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5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5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5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5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324" name="Google Shape;324;p5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5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5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5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28" name="Google Shape;328;p5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29" name="Google Shape;329;p5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330" name="Google Shape;330;p5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5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5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5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5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5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6" name="Google Shape;336;p5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337" name="Google Shape;337;p5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5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5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5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" name="Google Shape;341;p5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342" name="Google Shape;342;p5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5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5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5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6" name="Google Shape;346;p5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347" name="Google Shape;347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0" name="Google Shape;350;p5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351" name="Google Shape;351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5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355" name="Google Shape;355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p5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359" name="Google Shape;359;p5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5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5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62" name="Google Shape;362;p5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3" name="Google Shape;363;p5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4" name="Google Shape;364;p5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5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5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5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5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5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371" name="Google Shape;371;p55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372" name="Google Shape;372;p55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373" name="Google Shape;373;p55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74" name="Google Shape;374;p55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75" name="Google Shape;375;p55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376" name="Google Shape;376;p55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377" name="Google Shape;377;p55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55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79" name="Google Shape;379;p55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380" name="Google Shape;380;p5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5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5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5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4" name="Google Shape;384;p55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385" name="Google Shape;385;p5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5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5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5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9" name="Google Shape;389;p55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390" name="Google Shape;390;p5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5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5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5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5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5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8" name="Google Shape;398;p56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399" name="Google Shape;399;p56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00" name="Google Shape;400;p56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01" name="Google Shape;401;p56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02" name="Google Shape;402;p56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03" name="Google Shape;403;p56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04" name="Google Shape;404;p56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405" name="Google Shape;405;p56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06" name="Google Shape;406;p5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5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5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9" name="Google Shape;409;p5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410" name="Google Shape;410;p5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5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5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5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4" name="Google Shape;414;p5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415" name="Google Shape;415;p5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5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5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5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5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5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1" name="Google Shape;421;p5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422" name="Google Shape;422;p5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5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5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5" name="Google Shape;425;p5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26" name="Google Shape;426;p5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427" name="Google Shape;427;p5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5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5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5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5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5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3" name="Google Shape;433;p5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434" name="Google Shape;434;p5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5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5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5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oogle Shape;438;p5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439" name="Google Shape;439;p5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5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5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8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444" name="Google Shape;444;p58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445" name="Google Shape;445;p58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58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58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8" name="Google Shape;448;p58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9" name="Google Shape;449;p5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5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5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5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5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5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5" name="Google Shape;455;p58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6" name="Google Shape;456;p5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5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5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5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0" name="Google Shape;460;p58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8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58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58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8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58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6" name="Google Shape;466;p58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7" name="Google Shape;467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58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71" name="Google Shape;471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58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5" name="Google Shape;475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8" name="Google Shape;478;p58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58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0" name="Google Shape;480;p58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81" name="Google Shape;481;p5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58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8" name="Google Shape;488;p5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" name="Google Shape;492;p58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93" name="Google Shape;493;p5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58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8" name="Google Shape;498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58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502" name="Google Shape;502;p5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59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507" name="Google Shape;507;p59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9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" name="Google Shape;509;p59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510" name="Google Shape;510;p59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511" name="Google Shape;511;p59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2" name="Google Shape;512;p59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" name="Google Shape;513;p59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4" name="Google Shape;514;p59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15" name="Google Shape;515;p59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516" name="Google Shape;516;p5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5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5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5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5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5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2" name="Google Shape;522;p59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523" name="Google Shape;523;p5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5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5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5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7" name="Google Shape;527;p59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528" name="Google Shape;528;p5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5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5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5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2" name="Google Shape;532;p59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533" name="Google Shape;533;p59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59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59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59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59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59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9" name="Google Shape;539;p59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540" name="Google Shape;540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543" name="Google Shape;543;p59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59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5" name="Google Shape;545;p59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46" name="Google Shape;546;p59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547" name="Google Shape;547;p5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5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5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5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5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5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3" name="Google Shape;553;p59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554" name="Google Shape;554;p5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5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5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5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59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559" name="Google Shape;559;p5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5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5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5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3" name="Google Shape;563;p59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9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9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9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9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9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9" name="Google Shape;569;p59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570" name="Google Shape;570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" name="Google Shape;573;p59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574" name="Google Shape;574;p5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5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5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0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79" name="Google Shape;579;p60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60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1" name="Google Shape;581;p6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82" name="Google Shape;582;p6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6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6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6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" name="Google Shape;586;p60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587" name="Google Shape;587;p6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6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6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6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6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6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3" name="Google Shape;593;p6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p6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95" name="Google Shape;595;p6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96" name="Google Shape;596;p6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6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6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6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6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2" name="Google Shape;602;p6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603" name="Google Shape;603;p6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6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6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6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7" name="Google Shape;607;p6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608" name="Google Shape;608;p6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6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6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6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6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613" name="Google Shape;613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6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617" name="Google Shape;617;p6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6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6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1"/>
          <p:cNvSpPr txBox="1"/>
          <p:nvPr>
            <p:ph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22" name="Google Shape;622;p61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3" name="Google Shape;623;p61"/>
          <p:cNvSpPr txBox="1"/>
          <p:nvPr>
            <p:ph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24" name="Google Shape;624;p61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5" name="Google Shape;625;p61"/>
          <p:cNvSpPr txBox="1"/>
          <p:nvPr>
            <p:ph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26" name="Google Shape;626;p61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27" name="Google Shape;627;p6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6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6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6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1" name="Google Shape;631;p6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632" name="Google Shape;632;p6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6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6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6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6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639" name="Google Shape;639;p6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3" name="Google Shape;643;p6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644" name="Google Shape;644;p6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6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6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6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8" name="Google Shape;648;p6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649" name="Google Shape;649;p6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6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6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6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6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5" name="Google Shape;655;p6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656" name="Google Shape;656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9" name="Google Shape;659;p6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6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6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2" name="Google Shape;662;p6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663" name="Google Shape;663;p6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9" name="Google Shape;669;p6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670" name="Google Shape;670;p6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6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6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4" name="Google Shape;674;p6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675" name="Google Shape;675;p6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6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6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6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p6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6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6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5" name="Google Shape;685;p6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86" name="Google Shape;686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9" name="Google Shape;689;p6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90" name="Google Shape;690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3" name="Google Shape;693;p6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94" name="Google Shape;694;p6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6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6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2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99" name="Google Shape;699;p62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62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62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02" name="Google Shape;702;p62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703" name="Google Shape;703;p6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6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6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6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7" name="Google Shape;707;p62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708" name="Google Shape;708;p6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6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6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6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6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6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p62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715" name="Google Shape;715;p6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6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6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18" name="Google Shape;718;p62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19" name="Google Shape;719;p62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720" name="Google Shape;720;p6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6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6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6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6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6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6" name="Google Shape;726;p62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27" name="Google Shape;727;p6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6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6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6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1" name="Google Shape;731;p62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32" name="Google Shape;732;p6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6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6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6" name="Google Shape;736;p63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737" name="Google Shape;737;p63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63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9" name="Google Shape;739;p63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740" name="Google Shape;740;p63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741" name="Google Shape;741;p63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2" name="Google Shape;742;p63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3" name="Google Shape;743;p63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4" name="Google Shape;744;p63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45" name="Google Shape;745;p63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746" name="Google Shape;746;p6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6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6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6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6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6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2" name="Google Shape;752;p63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753" name="Google Shape;753;p6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6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6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6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7" name="Google Shape;757;p63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758" name="Google Shape;758;p6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6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6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6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2" name="Google Shape;762;p63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763" name="Google Shape;763;p63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63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63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63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63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63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9" name="Google Shape;769;p63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770" name="Google Shape;770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73" name="Google Shape;773;p63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4" name="Google Shape;774;p63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5" name="Google Shape;775;p63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76" name="Google Shape;776;p63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777" name="Google Shape;777;p6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6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6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6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6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6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3" name="Google Shape;783;p63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784" name="Google Shape;784;p6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6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6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6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8" name="Google Shape;788;p63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789" name="Google Shape;789;p6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6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6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6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3" name="Google Shape;793;p63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63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63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63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63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63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9" name="Google Shape;799;p63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800" name="Google Shape;800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3" name="Google Shape;803;p63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804" name="Google Shape;804;p6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6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6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7" name="Google Shape;807;p63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9" name="Google Shape;809;p6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0" name="Google Shape;810;p64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811" name="Google Shape;811;p6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12" name="Google Shape;812;p6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813" name="Google Shape;813;p6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6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6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6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7" name="Google Shape;817;p6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818" name="Google Shape;818;p6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6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6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6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6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6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24" name="Google Shape;824;p6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6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6" name="Google Shape;826;p6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827" name="Google Shape;827;p6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6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6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6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6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6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3" name="Google Shape;833;p6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834" name="Google Shape;834;p6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6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6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6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8" name="Google Shape;838;p6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839" name="Google Shape;839;p6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6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6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6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3" name="Google Shape;843;p6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44" name="Google Shape;844;p6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6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6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7" name="Google Shape;847;p6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848" name="Google Shape;848;p6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6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6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1" name="Google Shape;851;p64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52" name="Google Shape;852;p64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53" name="Google Shape;853;p64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54" name="Google Shape;854;p64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5" name="Google Shape;855;p64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56" name="Google Shape;856;p64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5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9" name="Google Shape;859;p65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60" name="Google Shape;860;p65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61" name="Google Shape;861;p65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62" name="Google Shape;862;p65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63" name="Google Shape;863;p65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64" name="Google Shape;864;p65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65" name="Google Shape;865;p65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66" name="Google Shape;866;p65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67" name="Google Shape;867;p65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68" name="Google Shape;868;p65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69" name="Google Shape;869;p65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70" name="Google Shape;870;p65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71" name="Google Shape;871;p65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2" name="Google Shape;872;p65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3" name="Google Shape;873;p65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4" name="Google Shape;874;p65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75" name="Google Shape;875;p65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876" name="Google Shape;876;p6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6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6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6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6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6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2" name="Google Shape;882;p65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883" name="Google Shape;883;p6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6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6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6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7" name="Google Shape;887;p65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888" name="Google Shape;888;p6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6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6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6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p65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893" name="Google Shape;893;p6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6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6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6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6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6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65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900" name="Google Shape;900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03" name="Google Shape;903;p65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4" name="Google Shape;904;p65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5" name="Google Shape;905;p65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6" name="Google Shape;906;p65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907" name="Google Shape;907;p6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6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6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6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6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3" name="Google Shape;913;p65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914" name="Google Shape;914;p6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6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6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6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8" name="Google Shape;918;p65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919" name="Google Shape;919;p6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6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6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6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3" name="Google Shape;923;p65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65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65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65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65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65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9" name="Google Shape;929;p65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930" name="Google Shape;930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3" name="Google Shape;933;p65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934" name="Google Shape;934;p6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6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6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6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39" name="Google Shape;939;p66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940" name="Google Shape;940;p66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1" name="Google Shape;941;p66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42" name="Google Shape;942;p66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943" name="Google Shape;943;p6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6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6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6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7" name="Google Shape;947;p66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948" name="Google Shape;948;p6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6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6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6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2" name="Google Shape;952;p66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953" name="Google Shape;953;p6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6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6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6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6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6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59" name="Google Shape;959;p66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60" name="Google Shape;960;p66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61" name="Google Shape;961;p66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62" name="Google Shape;962;p66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63" name="Google Shape;963;p66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64" name="Google Shape;964;p66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6" name="Google Shape;966;p67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7" name="Google Shape;967;p67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968" name="Google Shape;968;p67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9" name="Google Shape;969;p67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970" name="Google Shape;970;p6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6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6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4" name="Google Shape;974;p67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975" name="Google Shape;975;p6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6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6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6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6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6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81" name="Google Shape;981;p67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2" name="Google Shape;982;p67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83" name="Google Shape;983;p67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984" name="Google Shape;984;p6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6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6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6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6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6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0" name="Google Shape;990;p67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991" name="Google Shape;991;p6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6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6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6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5" name="Google Shape;995;p67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996" name="Google Shape;996;p6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6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6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6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0" name="Google Shape;1000;p6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001" name="Google Shape;1001;p6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6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6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4" name="Google Shape;1004;p67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005" name="Google Shape;1005;p6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6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6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8" name="Google Shape;1008;p67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09" name="Google Shape;1009;p67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10" name="Google Shape;1010;p67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11" name="Google Shape;1011;p67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12" name="Google Shape;1012;p67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13" name="Google Shape;1013;p67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5" name="Google Shape;1015;p68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1016" name="Google Shape;1016;p68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68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68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9" name="Google Shape;1019;p68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020" name="Google Shape;1020;p68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68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68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68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4" name="Google Shape;1024;p68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025" name="Google Shape;1025;p6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6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6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6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6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6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1" name="Google Shape;1031;p68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32" name="Google Shape;1032;p6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6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6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6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6" name="Google Shape;1036;p68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37" name="Google Shape;1037;p6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6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6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6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1" name="Google Shape;1041;p68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42" name="Google Shape;1042;p6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6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6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6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6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6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8" name="Google Shape;1048;p68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49" name="Google Shape;1049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52" name="Google Shape;1052;p68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3" name="Google Shape;1053;p68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4" name="Google Shape;1054;p68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55" name="Google Shape;1055;p68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56" name="Google Shape;1056;p6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6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6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6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6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6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2" name="Google Shape;1062;p68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63" name="Google Shape;1063;p6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6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6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6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7" name="Google Shape;1067;p68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68" name="Google Shape;1068;p6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6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6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6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2" name="Google Shape;1072;p68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8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8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8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8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8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8" name="Google Shape;1078;p68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79" name="Google Shape;1079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2" name="Google Shape;1082;p68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83" name="Google Shape;1083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6" name="Google Shape;1086;p68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87" name="Google Shape;1087;p6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6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6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0" name="Google Shape;1090;p68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69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3" name="Google Shape;1093;p69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094" name="Google Shape;1094;p69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5" name="Google Shape;1095;p69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6" name="Google Shape;1096;p69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7" name="Google Shape;1097;p69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098" name="Google Shape;1098;p6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6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6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6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69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103" name="Google Shape;1103;p6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6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6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9" name="Google Shape;1109;p69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110" name="Google Shape;1110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13" name="Google Shape;1113;p69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14" name="Google Shape;1114;p69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115" name="Google Shape;1115;p6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6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6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6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1" name="Google Shape;1121;p69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122" name="Google Shape;1122;p6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6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6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6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6" name="Google Shape;1126;p69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127" name="Google Shape;1127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30" name="Google Shape;1130;p69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1" name="Google Shape;1131;p69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2" name="Google Shape;1132;p69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3" name="Google Shape;1133;p69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34" name="Google Shape;1134;p69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1135" name="Google Shape;1135;p6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6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6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6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6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1" name="Google Shape;1141;p69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1142" name="Google Shape;1142;p6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6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p69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1147" name="Google Shape;1147;p6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6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6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6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1" name="Google Shape;1151;p69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1152" name="Google Shape;1152;p6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6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6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6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8" name="Google Shape;1158;p69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1159" name="Google Shape;1159;p6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70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164" name="Google Shape;1164;p70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5" name="Google Shape;1165;p70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6" name="Google Shape;1166;p70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67" name="Google Shape;1167;p70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168" name="Google Shape;1168;p7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7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7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7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7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7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4" name="Google Shape;1174;p70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175" name="Google Shape;1175;p7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7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7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7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9" name="Google Shape;1179;p70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70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70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70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70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70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5" name="Google Shape;1185;p70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186" name="Google Shape;1186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9" name="Google Shape;1189;p70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190" name="Google Shape;1190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3" name="Google Shape;1193;p70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194" name="Google Shape;1194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97" name="Google Shape;1197;p70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8" name="Google Shape;1198;p70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99" name="Google Shape;1199;p70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00" name="Google Shape;1200;p7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7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7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7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7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7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6" name="Google Shape;1206;p70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07" name="Google Shape;1207;p7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7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7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7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1" name="Google Shape;1211;p70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12" name="Google Shape;1212;p7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7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7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7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6" name="Google Shape;1216;p70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17" name="Google Shape;1217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0" name="Google Shape;1220;p70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21" name="Google Shape;1221;p7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7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7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71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6" name="Google Shape;1226;p71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27" name="Google Shape;1227;p71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28" name="Google Shape;1228;p71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9" name="Google Shape;1229;p71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0" name="Google Shape;1230;p71"/>
          <p:cNvSpPr txBox="1"/>
          <p:nvPr>
            <p:ph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31" name="Google Shape;1231;p71"/>
          <p:cNvSpPr txBox="1"/>
          <p:nvPr>
            <p:ph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232" name="Google Shape;1232;p7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233" name="Google Shape;1233;p7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34" name="Google Shape;1234;p7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235" name="Google Shape;1235;p7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7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7" name="Google Shape;1237;p7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8" name="Google Shape;1238;p7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7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7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1" name="Google Shape;1241;p7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42" name="Google Shape;1242;p7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7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7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7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6" name="Google Shape;1246;p7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247" name="Google Shape;1247;p7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7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7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7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51" name="Google Shape;1251;p7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52" name="Google Shape;1252;p7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253" name="Google Shape;1253;p7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7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7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7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7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7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9" name="Google Shape;1259;p7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260" name="Google Shape;1260;p7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7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7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7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4" name="Google Shape;1264;p7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265" name="Google Shape;1265;p7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6" name="Google Shape;1266;p7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7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7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9" name="Google Shape;1269;p7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270" name="Google Shape;1270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3" name="Google Shape;1273;p7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274" name="Google Shape;1274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77" name="Google Shape;1277;p7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278" name="Google Shape;1278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1" name="Google Shape;1281;p7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282" name="Google Shape;1282;p7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7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7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85" name="Google Shape;1285;p7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6" name="Google Shape;1286;p7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7" name="Google Shape;1287;p7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7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7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7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72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1293" name="Google Shape;1293;p72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294" name="Google Shape;1294;p72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5" name="Google Shape;1295;p72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96" name="Google Shape;1296;p7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297" name="Google Shape;1297;p7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7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9" name="Google Shape;1299;p7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7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1" name="Google Shape;1301;p72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1302" name="Google Shape;1302;p7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7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7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7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7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7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08" name="Google Shape;1308;p7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9" name="Google Shape;1309;p7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10" name="Google Shape;1310;p7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311" name="Google Shape;1311;p7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7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7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7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7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7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7" name="Google Shape;1317;p7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318" name="Google Shape;1318;p7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7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7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7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2" name="Google Shape;1322;p7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323" name="Google Shape;1323;p7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7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7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7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7" name="Google Shape;1327;p7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328" name="Google Shape;1328;p7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7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7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1" name="Google Shape;1331;p7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332" name="Google Shape;1332;p7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7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7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74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337" name="Google Shape;1337;p74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338" name="Google Shape;1338;p74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39" name="Google Shape;1339;p7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340" name="Google Shape;1340;p7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41" name="Google Shape;1341;p7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342" name="Google Shape;1342;p7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7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7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7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7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7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8" name="Google Shape;1348;p7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349" name="Google Shape;1349;p7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7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7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7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3" name="Google Shape;1353;p7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54" name="Google Shape;1354;p7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7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7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7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58" name="Google Shape;1358;p7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59" name="Google Shape;1359;p7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60" name="Google Shape;1360;p7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7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7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7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7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7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7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367" name="Google Shape;1367;p7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7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7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7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1" name="Google Shape;1371;p7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372" name="Google Shape;1372;p7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7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7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7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6" name="Google Shape;1376;p7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377" name="Google Shape;1377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0" name="Google Shape;1380;p7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381" name="Google Shape;1381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4" name="Google Shape;1384;p7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385" name="Google Shape;1385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8" name="Google Shape;1388;p7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389" name="Google Shape;1389;p7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7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7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92" name="Google Shape;1392;p7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3" name="Google Shape;1393;p7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4" name="Google Shape;1394;p7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7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7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7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77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00" name="Google Shape;1400;p77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401" name="Google Shape;1401;p7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2" name="Google Shape;1402;p7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3" name="Google Shape;1403;p7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04" name="Google Shape;1404;p7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405" name="Google Shape;1405;p7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7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7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7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7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7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1" name="Google Shape;1411;p7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412" name="Google Shape;1412;p7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7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7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7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6" name="Google Shape;1416;p7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7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7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7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7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7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2" name="Google Shape;1422;p7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423" name="Google Shape;1423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6" name="Google Shape;1426;p7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427" name="Google Shape;1427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0" name="Google Shape;1430;p7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431" name="Google Shape;1431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34" name="Google Shape;1434;p7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7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6" name="Google Shape;1436;p7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437" name="Google Shape;1437;p7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7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7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7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7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7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3" name="Google Shape;1443;p7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444" name="Google Shape;1444;p7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7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7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7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8" name="Google Shape;1448;p7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449" name="Google Shape;1449;p7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7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7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7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3" name="Google Shape;1453;p7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454" name="Google Shape;1454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7" name="Google Shape;1457;p7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458" name="Google Shape;1458;p7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7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7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3" name="Google Shape;1463;p7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4" name="Google Shape;1464;p7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5" name="Google Shape;1465;p7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6" name="Google Shape;1466;p7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67" name="Google Shape;1467;p7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468" name="Google Shape;1468;p7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7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7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7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7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7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4" name="Google Shape;1474;p7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475" name="Google Shape;1475;p7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7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7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7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9" name="Google Shape;1479;p7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480" name="Google Shape;1480;p7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7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7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7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4" name="Google Shape;1484;p7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485" name="Google Shape;1485;p7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7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7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7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7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7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1" name="Google Shape;1491;p7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492" name="Google Shape;1492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95" name="Google Shape;1495;p7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6" name="Google Shape;1496;p7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7" name="Google Shape;1497;p7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98" name="Google Shape;1498;p7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499" name="Google Shape;1499;p7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7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7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7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7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7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5" name="Google Shape;1505;p7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506" name="Google Shape;1506;p7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7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7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7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0" name="Google Shape;1510;p7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511" name="Google Shape;1511;p7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7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7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7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5" name="Google Shape;1515;p7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7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7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7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7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7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1" name="Google Shape;1521;p7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522" name="Google Shape;1522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5" name="Google Shape;1525;p7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526" name="Google Shape;1526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9" name="Google Shape;1529;p7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530" name="Google Shape;1530;p7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7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7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80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1535" name="Google Shape;1535;p80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6" name="Google Shape;1536;p80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37" name="Google Shape;1537;p80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538" name="Google Shape;1538;p8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8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8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8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2" name="Google Shape;1542;p80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543" name="Google Shape;1543;p8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8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8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8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80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548" name="Google Shape;1548;p8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8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8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8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8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8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5" name="Google Shape;1555;p8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556" name="Google Shape;1556;p8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57" name="Google Shape;1557;p8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558" name="Google Shape;1558;p8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8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8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8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8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8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4" name="Google Shape;1564;p8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565" name="Google Shape;1565;p8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8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8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8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9" name="Google Shape;1569;p8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570" name="Google Shape;1570;p8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8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8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8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74" name="Google Shape;1574;p8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75" name="Google Shape;1575;p8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576" name="Google Shape;1576;p8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8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8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8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8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8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2" name="Google Shape;1582;p8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583" name="Google Shape;1583;p8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8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8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8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7" name="Google Shape;1587;p8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588" name="Google Shape;1588;p8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8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8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8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2" name="Google Shape;1592;p8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93" name="Google Shape;1593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6" name="Google Shape;1596;p8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97" name="Google Shape;1597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0" name="Google Shape;1600;p8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01" name="Google Shape;1601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4" name="Google Shape;1604;p8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05" name="Google Shape;1605;p8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8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8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08" name="Google Shape;1608;p8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9" name="Google Shape;1609;p8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0" name="Google Shape;1610;p8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8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8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8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5" name="Google Shape;1615;p82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616" name="Google Shape;1616;p82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7" name="Google Shape;1617;p82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8" name="Google Shape;1618;p82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9" name="Google Shape;1619;p82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0" name="Google Shape;1620;p82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621" name="Google Shape;1621;p8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8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8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8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8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8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7" name="Google Shape;1627;p82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628" name="Google Shape;1628;p8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8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8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8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2" name="Google Shape;1632;p82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633" name="Google Shape;1633;p8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8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8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8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7" name="Google Shape;1637;p82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638" name="Google Shape;1638;p82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82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82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82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82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82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4" name="Google Shape;1644;p82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645" name="Google Shape;1645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48" name="Google Shape;1648;p82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9" name="Google Shape;1649;p82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0" name="Google Shape;1650;p82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51" name="Google Shape;1651;p82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652" name="Google Shape;1652;p8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8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8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8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8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8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8" name="Google Shape;1658;p82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659" name="Google Shape;1659;p8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8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8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8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3" name="Google Shape;1663;p82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64" name="Google Shape;1664;p8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8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8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8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8" name="Google Shape;1668;p82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82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82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82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82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82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4" name="Google Shape;1674;p82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75" name="Google Shape;1675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8" name="Google Shape;1678;p82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79" name="Google Shape;1679;p8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8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8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CJdaRacc/FAMU-Career-Assistant-Proj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1"/>
          <p:cNvGrpSpPr/>
          <p:nvPr/>
        </p:nvGrpSpPr>
        <p:grpSpPr>
          <a:xfrm>
            <a:off x="51860" y="9149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1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1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1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1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1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1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1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1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1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1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1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1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1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1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1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1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1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1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1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1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1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1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1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1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1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1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1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1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1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1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1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1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1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1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1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1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1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1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1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1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1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1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1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1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1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1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1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1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1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1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1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1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1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1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1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1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1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1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1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1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1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1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1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1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1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1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1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1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1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1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1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1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1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1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1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1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1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1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1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1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1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1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1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1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1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1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1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1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1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1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1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1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1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1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1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1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1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1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1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1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1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1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1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1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1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1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1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1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1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1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1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1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1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1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1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1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1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1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1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1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1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1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1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1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1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1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1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1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1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1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1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1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1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1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1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1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1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1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1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1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1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1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1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1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1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1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1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1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1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1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1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1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1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1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1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1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0" name="Google Shape;1880;p1"/>
          <p:cNvSpPr txBox="1"/>
          <p:nvPr>
            <p:ph type="ctrTitle"/>
          </p:nvPr>
        </p:nvSpPr>
        <p:spPr>
          <a:xfrm>
            <a:off x="5200924" y="2110663"/>
            <a:ext cx="38445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000"/>
              <a:t>Career Assistant Program</a:t>
            </a:r>
            <a:endParaRPr sz="5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000"/>
              <a:t>(Sprint 2)</a:t>
            </a:r>
            <a:endParaRPr sz="5000"/>
          </a:p>
        </p:txBody>
      </p:sp>
      <p:sp>
        <p:nvSpPr>
          <p:cNvPr id="1881" name="Google Shape;1881;p1"/>
          <p:cNvSpPr txBox="1"/>
          <p:nvPr>
            <p:ph idx="1" type="subTitle"/>
          </p:nvPr>
        </p:nvSpPr>
        <p:spPr>
          <a:xfrm>
            <a:off x="5299499" y="3947325"/>
            <a:ext cx="38445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300">
                <a:latin typeface="Barlow Semi Condensed"/>
                <a:ea typeface="Barlow Semi Condensed"/>
                <a:cs typeface="Barlow Semi Condensed"/>
                <a:sym typeface="Barlow Semi Condensed"/>
              </a:rPr>
              <a:t>By: Calvin Mitchell, Danielle Devose, Nathaniel Washington, and Jeremy Metellus </a:t>
            </a:r>
            <a:endParaRPr b="1" sz="2300">
              <a:solidFill>
                <a:schemeClr val="accent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6" name="Google Shape;1886;p3"/>
          <p:cNvGrpSpPr/>
          <p:nvPr/>
        </p:nvGrpSpPr>
        <p:grpSpPr>
          <a:xfrm>
            <a:off x="4610854" y="1510458"/>
            <a:ext cx="4430405" cy="3106404"/>
            <a:chOff x="862950" y="825025"/>
            <a:chExt cx="5862650" cy="4111175"/>
          </a:xfrm>
        </p:grpSpPr>
        <p:sp>
          <p:nvSpPr>
            <p:cNvPr id="1887" name="Google Shape;1887;p3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3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3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3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3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3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3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3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3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3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3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3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3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3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3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3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3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3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3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3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3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3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3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3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3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2" name="Google Shape;1912;p3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3" name="Google Shape;1913;p3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4" name="Google Shape;1914;p3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3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3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7" name="Google Shape;1917;p3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8" name="Google Shape;1918;p3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3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3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3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2" name="Google Shape;1922;p3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3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3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3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3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3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8" name="Google Shape;1928;p3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9" name="Google Shape;1929;p3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0" name="Google Shape;1930;p3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1" name="Google Shape;1931;p3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2" name="Google Shape;1932;p3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3" name="Google Shape;1933;p3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4" name="Google Shape;1934;p3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3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3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7" name="Google Shape;1937;p3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3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3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3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3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3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3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3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3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3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3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8" name="Google Shape;1948;p3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9" name="Google Shape;1949;p3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0" name="Google Shape;1950;p3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1" name="Google Shape;1951;p3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2" name="Google Shape;1952;p3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3" name="Google Shape;1953;p3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4" name="Google Shape;1954;p3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5" name="Google Shape;1955;p3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6" name="Google Shape;1956;p3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3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8" name="Google Shape;1958;p3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9" name="Google Shape;1959;p3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3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3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3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3" name="Google Shape;1963;p3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4" name="Google Shape;1964;p3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5" name="Google Shape;1965;p3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6" name="Google Shape;1966;p3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7" name="Google Shape;1967;p3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8" name="Google Shape;1968;p3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9" name="Google Shape;1969;p3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0" name="Google Shape;1970;p3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1" name="Google Shape;1971;p3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2" name="Google Shape;1972;p3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3" name="Google Shape;1973;p3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3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5" name="Google Shape;1975;p3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6" name="Google Shape;1976;p3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3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3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3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3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1" name="Google Shape;1981;p3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2" name="Google Shape;1982;p3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3" name="Google Shape;1983;p3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3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5" name="Google Shape;1985;p3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3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7" name="Google Shape;1987;p3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8" name="Google Shape;1988;p3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9" name="Google Shape;1989;p3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0" name="Google Shape;1990;p3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1" name="Google Shape;1991;p3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2" name="Google Shape;1992;p3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3" name="Google Shape;1993;p3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4" name="Google Shape;1994;p3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5" name="Google Shape;1995;p3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6" name="Google Shape;1996;p3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3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8" name="Google Shape;1998;p3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9" name="Google Shape;1999;p3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0" name="Google Shape;2000;p3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3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3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3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3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5" name="Google Shape;2005;p3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6" name="Google Shape;2006;p3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3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8" name="Google Shape;2008;p3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9" name="Google Shape;2009;p3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0" name="Google Shape;2010;p3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1" name="Google Shape;2011;p3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2" name="Google Shape;2012;p3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3" name="Google Shape;2013;p3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4" name="Google Shape;2014;p3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5" name="Google Shape;2015;p3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6" name="Google Shape;2016;p3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7" name="Google Shape;2017;p3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8" name="Google Shape;2018;p3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3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3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3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3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3" name="Google Shape;2023;p3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4" name="Google Shape;2024;p3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5" name="Google Shape;2025;p3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6" name="Google Shape;2026;p3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7" name="Google Shape;2027;p3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8" name="Google Shape;2028;p3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9" name="Google Shape;2029;p3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0" name="Google Shape;2030;p3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1" name="Google Shape;2031;p3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2" name="Google Shape;2032;p3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3" name="Google Shape;2033;p3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3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5" name="Google Shape;2035;p3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6" name="Google Shape;2036;p3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7" name="Google Shape;2037;p3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8" name="Google Shape;2038;p3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9" name="Google Shape;2039;p3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0" name="Google Shape;2040;p3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3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3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3" name="Google Shape;2043;p3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4" name="Google Shape;2044;p3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3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3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3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8" name="Google Shape;2048;p3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9" name="Google Shape;2049;p3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0" name="Google Shape;2050;p3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1" name="Google Shape;2051;p3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2" name="Google Shape;2052;p3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3" name="Google Shape;2053;p3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4" name="Google Shape;2054;p3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5" name="Google Shape;2055;p3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6" name="Google Shape;2056;p3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7" name="Google Shape;2057;p3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8" name="Google Shape;2058;p3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9" name="Google Shape;2059;p3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0" name="Google Shape;2060;p3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1" name="Google Shape;2061;p3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2" name="Google Shape;2062;p3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3" name="Google Shape;2063;p3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4" name="Google Shape;2064;p3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5" name="Google Shape;2065;p3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6" name="Google Shape;2066;p3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7" name="Google Shape;2067;p3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8" name="Google Shape;2068;p3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3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3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3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2" name="Google Shape;2072;p3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3" name="Google Shape;2073;p3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4" name="Google Shape;2074;p3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5" name="Google Shape;2075;p3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6" name="Google Shape;2076;p3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7" name="Google Shape;2077;p3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8" name="Google Shape;2078;p3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3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3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3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3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3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3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5" name="Google Shape;2085;p3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3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3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3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9" name="Google Shape;2089;p3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0" name="Google Shape;2090;p3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3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2" name="Google Shape;2092;p3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3" name="Google Shape;2093;p3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4" name="Google Shape;2094;p3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5" name="Google Shape;2095;p3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6" name="Google Shape;2096;p3"/>
          <p:cNvGrpSpPr/>
          <p:nvPr/>
        </p:nvGrpSpPr>
        <p:grpSpPr>
          <a:xfrm>
            <a:off x="208808" y="854837"/>
            <a:ext cx="780220" cy="902505"/>
            <a:chOff x="731647" y="573573"/>
            <a:chExt cx="635100" cy="734640"/>
          </a:xfrm>
        </p:grpSpPr>
        <p:grpSp>
          <p:nvGrpSpPr>
            <p:cNvPr id="2097" name="Google Shape;2097;p3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098" name="Google Shape;2098;p3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11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9" name="Google Shape;2099;p3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117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0" name="Google Shape;2100;p3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01" name="Google Shape;2101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2" name="Google Shape;2102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3" name="Google Shape;2103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04" name="Google Shape;2104;p3"/>
          <p:cNvGrpSpPr/>
          <p:nvPr/>
        </p:nvGrpSpPr>
        <p:grpSpPr>
          <a:xfrm>
            <a:off x="240267" y="2099146"/>
            <a:ext cx="780220" cy="901094"/>
            <a:chOff x="731647" y="1650460"/>
            <a:chExt cx="635100" cy="733491"/>
          </a:xfrm>
        </p:grpSpPr>
        <p:grpSp>
          <p:nvGrpSpPr>
            <p:cNvPr id="2105" name="Google Shape;2105;p3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06" name="Google Shape;2106;p3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11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7" name="Google Shape;2107;p3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11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8" name="Google Shape;2108;p3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09" name="Google Shape;2109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0" name="Google Shape;2110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1" name="Google Shape;2111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12" name="Google Shape;2112;p3"/>
          <p:cNvGrpSpPr/>
          <p:nvPr/>
        </p:nvGrpSpPr>
        <p:grpSpPr>
          <a:xfrm>
            <a:off x="224537" y="3328868"/>
            <a:ext cx="780220" cy="902927"/>
            <a:chOff x="731647" y="2728277"/>
            <a:chExt cx="635100" cy="734983"/>
          </a:xfrm>
        </p:grpSpPr>
        <p:grpSp>
          <p:nvGrpSpPr>
            <p:cNvPr id="2113" name="Google Shape;2113;p3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14" name="Google Shape;2114;p3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11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5" name="Google Shape;2115;p3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11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6" name="Google Shape;2116;p3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17" name="Google Shape;2117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8" name="Google Shape;2118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9" name="Google Shape;2119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12325" lIns="112325" spcFirstLastPara="1" rIns="112325" wrap="square" tIns="1123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20"/>
                  <a:buFont typeface="Arial"/>
                  <a:buNone/>
                </a:pPr>
                <a:r>
                  <a:t/>
                </a:r>
                <a:endParaRPr b="0" i="0" sz="1719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20" name="Google Shape;2120;p3"/>
          <p:cNvSpPr txBox="1"/>
          <p:nvPr>
            <p:ph type="title"/>
          </p:nvPr>
        </p:nvSpPr>
        <p:spPr>
          <a:xfrm>
            <a:off x="3145875" y="105208"/>
            <a:ext cx="5708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User stories (Goals)</a:t>
            </a:r>
            <a:endParaRPr/>
          </a:p>
        </p:txBody>
      </p:sp>
      <p:sp>
        <p:nvSpPr>
          <p:cNvPr id="2121" name="Google Shape;2121;p3"/>
          <p:cNvSpPr txBox="1"/>
          <p:nvPr>
            <p:ph idx="3" type="subTitle"/>
          </p:nvPr>
        </p:nvSpPr>
        <p:spPr>
          <a:xfrm>
            <a:off x="989026" y="802542"/>
            <a:ext cx="4555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600">
                <a:latin typeface="Fjalla One"/>
                <a:ea typeface="Fjalla One"/>
                <a:cs typeface="Fjalla One"/>
                <a:sym typeface="Fjalla One"/>
              </a:rPr>
              <a:t>Student Profile Dashboard &amp; Advance Quiz (Update)</a:t>
            </a:r>
            <a:endParaRPr sz="2300"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22" name="Google Shape;2122;p3"/>
          <p:cNvSpPr txBox="1"/>
          <p:nvPr>
            <p:ph idx="4" type="subTitle"/>
          </p:nvPr>
        </p:nvSpPr>
        <p:spPr>
          <a:xfrm>
            <a:off x="989013" y="1102164"/>
            <a:ext cx="370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/>
              <a:t>Updated the student dashboard to include accessibility features a include percentages to job match </a:t>
            </a:r>
            <a:r>
              <a:rPr lang="en" sz="1300"/>
              <a:t>percentage</a:t>
            </a:r>
            <a:r>
              <a:rPr lang="en" sz="1300"/>
              <a:t> </a:t>
            </a:r>
            <a:endParaRPr sz="1300"/>
          </a:p>
        </p:txBody>
      </p:sp>
      <p:sp>
        <p:nvSpPr>
          <p:cNvPr id="2123" name="Google Shape;2123;p3"/>
          <p:cNvSpPr txBox="1"/>
          <p:nvPr>
            <p:ph idx="5" type="subTitle"/>
          </p:nvPr>
        </p:nvSpPr>
        <p:spPr>
          <a:xfrm>
            <a:off x="1020495" y="1979696"/>
            <a:ext cx="4233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Fjalla One"/>
                <a:ea typeface="Fjalla One"/>
                <a:cs typeface="Fjalla One"/>
                <a:sym typeface="Fjalla One"/>
              </a:rPr>
              <a:t>Job Matches and Recommendations (updated)</a:t>
            </a:r>
            <a:endParaRPr sz="2300"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24" name="Google Shape;2124;p3"/>
          <p:cNvSpPr txBox="1"/>
          <p:nvPr>
            <p:ph idx="6" type="subTitle"/>
          </p:nvPr>
        </p:nvSpPr>
        <p:spPr>
          <a:xfrm>
            <a:off x="1020496" y="2263172"/>
            <a:ext cx="3701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0000"/>
                </a:solidFill>
              </a:rPr>
              <a:t>Updated the Job Matches to include a percentage match indicator and </a:t>
            </a:r>
            <a:r>
              <a:rPr lang="en" sz="1300">
                <a:solidFill>
                  <a:srgbClr val="000000"/>
                </a:solidFill>
              </a:rPr>
              <a:t>formatted</a:t>
            </a:r>
            <a:r>
              <a:rPr lang="en" sz="1300">
                <a:solidFill>
                  <a:srgbClr val="000000"/>
                </a:solidFill>
              </a:rPr>
              <a:t> the page to be easier on the eyes.</a:t>
            </a:r>
            <a:endParaRPr sz="1800"/>
          </a:p>
        </p:txBody>
      </p:sp>
      <p:sp>
        <p:nvSpPr>
          <p:cNvPr id="2125" name="Google Shape;2125;p3"/>
          <p:cNvSpPr txBox="1"/>
          <p:nvPr>
            <p:ph idx="7" type="subTitle"/>
          </p:nvPr>
        </p:nvSpPr>
        <p:spPr>
          <a:xfrm>
            <a:off x="1004777" y="3080431"/>
            <a:ext cx="3432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600">
                <a:latin typeface="Fjalla One"/>
                <a:ea typeface="Fjalla One"/>
                <a:cs typeface="Fjalla One"/>
                <a:sym typeface="Fjalla One"/>
              </a:rPr>
              <a:t>Resume Feedback (new!)</a:t>
            </a:r>
            <a:endParaRPr sz="2300"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126" name="Google Shape;2126;p3"/>
          <p:cNvSpPr txBox="1"/>
          <p:nvPr>
            <p:ph idx="8" type="subTitle"/>
          </p:nvPr>
        </p:nvSpPr>
        <p:spPr>
          <a:xfrm>
            <a:off x="1004767" y="3339730"/>
            <a:ext cx="324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0000"/>
                </a:solidFill>
              </a:rPr>
              <a:t>Provides students with feedback from their AI-analyzed resume and gives them a percentage match and highlights keywords that are missing</a:t>
            </a:r>
            <a:endParaRPr sz="1300"/>
          </a:p>
        </p:txBody>
      </p:sp>
      <p:sp>
        <p:nvSpPr>
          <p:cNvPr id="2127" name="Google Shape;2127;p3"/>
          <p:cNvSpPr txBox="1"/>
          <p:nvPr>
            <p:ph idx="9" type="title"/>
          </p:nvPr>
        </p:nvSpPr>
        <p:spPr>
          <a:xfrm>
            <a:off x="309741" y="1037632"/>
            <a:ext cx="561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2325" lIns="112325" spcFirstLastPara="1" rIns="112325" wrap="square" tIns="1123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57"/>
              <a:buNone/>
            </a:pPr>
            <a:r>
              <a:rPr lang="en" sz="2456"/>
              <a:t>01</a:t>
            </a:r>
            <a:endParaRPr sz="2456"/>
          </a:p>
        </p:txBody>
      </p:sp>
      <p:sp>
        <p:nvSpPr>
          <p:cNvPr id="2128" name="Google Shape;2128;p3"/>
          <p:cNvSpPr txBox="1"/>
          <p:nvPr>
            <p:ph idx="13" type="title"/>
          </p:nvPr>
        </p:nvSpPr>
        <p:spPr>
          <a:xfrm>
            <a:off x="341200" y="2284512"/>
            <a:ext cx="561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2325" lIns="112325" spcFirstLastPara="1" rIns="112325" wrap="square" tIns="1123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57"/>
              <a:buNone/>
            </a:pPr>
            <a:r>
              <a:rPr lang="en" sz="2456"/>
              <a:t>02</a:t>
            </a:r>
            <a:endParaRPr sz="2456"/>
          </a:p>
        </p:txBody>
      </p:sp>
      <p:sp>
        <p:nvSpPr>
          <p:cNvPr id="2129" name="Google Shape;2129;p3"/>
          <p:cNvSpPr txBox="1"/>
          <p:nvPr>
            <p:ph idx="14" type="title"/>
          </p:nvPr>
        </p:nvSpPr>
        <p:spPr>
          <a:xfrm>
            <a:off x="325470" y="3515663"/>
            <a:ext cx="561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2325" lIns="112325" spcFirstLastPara="1" rIns="112325" wrap="square" tIns="1123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57"/>
              <a:buNone/>
            </a:pPr>
            <a:r>
              <a:rPr lang="en" sz="2456"/>
              <a:t>03</a:t>
            </a:r>
            <a:endParaRPr sz="2456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8"/>
          <p:cNvSpPr txBox="1"/>
          <p:nvPr>
            <p:ph type="title"/>
          </p:nvPr>
        </p:nvSpPr>
        <p:spPr>
          <a:xfrm>
            <a:off x="1823475" y="338325"/>
            <a:ext cx="601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Snapshot (Before | Sprint 1 )</a:t>
            </a:r>
            <a:endParaRPr/>
          </a:p>
        </p:txBody>
      </p:sp>
      <p:pic>
        <p:nvPicPr>
          <p:cNvPr id="2135" name="Google Shape;2135;p8" title="ChatGPT Image Sep 22, 2025, 03_33_19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6700" y="911025"/>
            <a:ext cx="3388951" cy="42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g38c4b241a58_0_0"/>
          <p:cNvSpPr txBox="1"/>
          <p:nvPr>
            <p:ph type="title"/>
          </p:nvPr>
        </p:nvSpPr>
        <p:spPr>
          <a:xfrm>
            <a:off x="1823475" y="338325"/>
            <a:ext cx="575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Architecture Snapshot (After | Sprint 2)</a:t>
            </a:r>
            <a:endParaRPr/>
          </a:p>
        </p:txBody>
      </p:sp>
      <p:pic>
        <p:nvPicPr>
          <p:cNvPr id="2141" name="Google Shape;2141;g38c4b241a58_0_0" title="ChatGPT Image Oct 13, 2025, 06_47_31 PM.png"/>
          <p:cNvPicPr preferRelativeResize="0"/>
          <p:nvPr/>
        </p:nvPicPr>
        <p:blipFill rotWithShape="1">
          <a:blip r:embed="rId3">
            <a:alphaModFix/>
          </a:blip>
          <a:srcRect b="6976" l="0" r="0" t="0"/>
          <a:stretch/>
        </p:blipFill>
        <p:spPr>
          <a:xfrm>
            <a:off x="2943150" y="815775"/>
            <a:ext cx="3019799" cy="421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5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9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Links to Demo/Github</a:t>
            </a:r>
            <a:endParaRPr/>
          </a:p>
        </p:txBody>
      </p:sp>
      <p:sp>
        <p:nvSpPr>
          <p:cNvPr id="2147" name="Google Shape;2147;p9"/>
          <p:cNvSpPr txBox="1"/>
          <p:nvPr/>
        </p:nvSpPr>
        <p:spPr>
          <a:xfrm>
            <a:off x="3175725" y="2172475"/>
            <a:ext cx="2792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" sz="4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29"/>
          <p:cNvSpPr txBox="1"/>
          <p:nvPr>
            <p:ph type="title"/>
          </p:nvPr>
        </p:nvSpPr>
        <p:spPr>
          <a:xfrm>
            <a:off x="2105425" y="169744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200"/>
              <a:t>Thanks!</a:t>
            </a:r>
            <a:endParaRPr sz="7200"/>
          </a:p>
        </p:txBody>
      </p:sp>
      <p:grpSp>
        <p:nvGrpSpPr>
          <p:cNvPr id="2153" name="Google Shape;2153;p29"/>
          <p:cNvGrpSpPr/>
          <p:nvPr/>
        </p:nvGrpSpPr>
        <p:grpSpPr>
          <a:xfrm>
            <a:off x="3733763" y="3221625"/>
            <a:ext cx="1681025" cy="338359"/>
            <a:chOff x="3733763" y="3183525"/>
            <a:chExt cx="1681025" cy="338359"/>
          </a:xfrm>
        </p:grpSpPr>
        <p:sp>
          <p:nvSpPr>
            <p:cNvPr id="2154" name="Google Shape;2154;p29"/>
            <p:cNvSpPr/>
            <p:nvPr/>
          </p:nvSpPr>
          <p:spPr>
            <a:xfrm>
              <a:off x="3733763" y="3183525"/>
              <a:ext cx="338345" cy="338295"/>
            </a:xfrm>
            <a:custGeom>
              <a:rect b="b" l="l" r="r" t="t"/>
              <a:pathLst>
                <a:path extrusionOk="0" h="19982" w="19982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55" name="Google Shape;2155;p29"/>
            <p:cNvGrpSpPr/>
            <p:nvPr/>
          </p:nvGrpSpPr>
          <p:grpSpPr>
            <a:xfrm>
              <a:off x="4166051" y="3183552"/>
              <a:ext cx="338366" cy="338332"/>
              <a:chOff x="812101" y="2571761"/>
              <a:chExt cx="417066" cy="417024"/>
            </a:xfrm>
          </p:grpSpPr>
          <p:sp>
            <p:nvSpPr>
              <p:cNvPr id="2156" name="Google Shape;2156;p29"/>
              <p:cNvSpPr/>
              <p:nvPr/>
            </p:nvSpPr>
            <p:spPr>
              <a:xfrm>
                <a:off x="935084" y="2694744"/>
                <a:ext cx="171071" cy="171071"/>
              </a:xfrm>
              <a:custGeom>
                <a:rect b="b" l="l" r="r" t="t"/>
                <a:pathLst>
                  <a:path extrusionOk="0" h="8197" w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7" name="Google Shape;2157;p29"/>
              <p:cNvSpPr/>
              <p:nvPr/>
            </p:nvSpPr>
            <p:spPr>
              <a:xfrm>
                <a:off x="860977" y="2620616"/>
                <a:ext cx="319311" cy="319290"/>
              </a:xfrm>
              <a:custGeom>
                <a:rect b="b" l="l" r="r" t="t"/>
                <a:pathLst>
                  <a:path extrusionOk="0" h="15299" w="1530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8" name="Google Shape;2158;p29"/>
              <p:cNvSpPr/>
              <p:nvPr/>
            </p:nvSpPr>
            <p:spPr>
              <a:xfrm>
                <a:off x="812101" y="2571761"/>
                <a:ext cx="417066" cy="417024"/>
              </a:xfrm>
              <a:custGeom>
                <a:rect b="b" l="l" r="r" t="t"/>
                <a:pathLst>
                  <a:path extrusionOk="0" h="19982" w="19984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9" name="Google Shape;2159;p29"/>
              <p:cNvSpPr/>
              <p:nvPr/>
            </p:nvSpPr>
            <p:spPr>
              <a:xfrm>
                <a:off x="1081712" y="2670306"/>
                <a:ext cx="48878" cy="48898"/>
              </a:xfrm>
              <a:custGeom>
                <a:rect b="b" l="l" r="r" t="t"/>
                <a:pathLst>
                  <a:path extrusionOk="0" h="2343" w="2342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0" name="Google Shape;2160;p29"/>
            <p:cNvGrpSpPr/>
            <p:nvPr/>
          </p:nvGrpSpPr>
          <p:grpSpPr>
            <a:xfrm>
              <a:off x="4598397" y="3183552"/>
              <a:ext cx="338332" cy="338332"/>
              <a:chOff x="1323129" y="2571761"/>
              <a:chExt cx="417024" cy="417024"/>
            </a:xfrm>
          </p:grpSpPr>
          <p:sp>
            <p:nvSpPr>
              <p:cNvPr id="2161" name="Google Shape;2161;p29"/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rect b="b" l="l" r="r" t="t"/>
                <a:pathLst>
                  <a:path extrusionOk="0" h="10537" w="3514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2" name="Google Shape;2162;p29"/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rect b="b" l="l" r="r" t="t"/>
                <a:pathLst>
                  <a:path extrusionOk="0" h="3514" w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3" name="Google Shape;2163;p29"/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rect b="b" l="l" r="r" t="t"/>
                <a:pathLst>
                  <a:path extrusionOk="0" h="10556" w="9368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p29"/>
              <p:cNvSpPr/>
              <p:nvPr/>
            </p:nvSpPr>
            <p:spPr>
              <a:xfrm>
                <a:off x="1323129" y="2571761"/>
                <a:ext cx="417024" cy="417024"/>
              </a:xfrm>
              <a:custGeom>
                <a:rect b="b" l="l" r="r" t="t"/>
                <a:pathLst>
                  <a:path extrusionOk="0" h="19982" w="19982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65" name="Google Shape;2165;p29"/>
            <p:cNvSpPr/>
            <p:nvPr/>
          </p:nvSpPr>
          <p:spPr>
            <a:xfrm>
              <a:off x="5074766" y="3214044"/>
              <a:ext cx="340022" cy="277263"/>
            </a:xfrm>
            <a:custGeom>
              <a:rect b="b" l="l" r="r" t="t"/>
              <a:pathLst>
                <a:path extrusionOk="0" h="16377" w="20081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